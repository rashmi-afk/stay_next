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4937760"/>
            <a:ext cx="2560320" cy="2560320"/>
          </a:xfrm>
          <a:prstGeom prst="ellipse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3200400" cy="3200400"/>
          </a:xfrm>
          <a:prstGeom prst="ellipse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4480560"/>
            <a:ext cx="1828800" cy="1828800"/>
          </a:xfrm>
          <a:prstGeom prst="ellipse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85800"/>
            <a:ext cx="1828800" cy="347472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MERN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STAY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DCEBF0"/>
                </a:solidFill>
                <a:latin typeface="Aptos"/>
              </a:defRPr>
            </a:pPr>
            <a:r>
              <a:t>Airbnb-style Property Booking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2E1E8"/>
                </a:solidFill>
                <a:latin typeface="Aptos"/>
              </a:defRPr>
            </a:pPr>
            <a:r>
              <a:t>10-slide concise presentation covering all major functionality, role-wise work, project pipeline, security, and future enhancements.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60520"/>
            <a:ext cx="1645920" cy="411480"/>
          </a:xfrm>
          <a:prstGeom prst="round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4160520"/>
            <a:ext cx="1645920" cy="411480"/>
          </a:xfrm>
          <a:prstGeom prst="round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F33"/>
                </a:solidFill>
                <a:latin typeface="Aptos"/>
              </a:defRPr>
            </a:pPr>
            <a:r>
              <a:t>Host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4160520"/>
            <a:ext cx="1645920" cy="411480"/>
          </a:xfrm>
          <a:prstGeom prst="round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AE2"/>
                </a:solidFill>
                <a:latin typeface="Aptos"/>
              </a:defRPr>
            </a:pPr>
            <a:r>
              <a:t>Prepared from the current StayNext project codebase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B1F33"/>
                </a:solidFill>
                <a:latin typeface="Aptos"/>
              </a:defRPr>
            </a:pPr>
            <a:r>
              <a:t>What Is StayNext?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74519"/>
            <a:ext cx="3429000" cy="30632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91440" cy="306324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3108960" cy="24688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Connect guests with rental stays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Allow hosts to publish and manage properties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Provide admin control over platform operations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Complete journey from search to checkout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874519"/>
            <a:ext cx="3429000" cy="30632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91440" cy="306324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9751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Core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59152"/>
            <a:ext cx="3108960" cy="24688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Authentication and role access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Property listing and search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Booking, payment, stay tracking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Wishlist, reviews, tickets, 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874519"/>
            <a:ext cx="3429000" cy="30632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91440" cy="306324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9751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359152"/>
            <a:ext cx="3108960" cy="24688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Full-stack rental marketplace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Realistic demo payment flow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Admin back-office dashboard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Simple and practical user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F33"/>
                </a:solidFill>
                <a:latin typeface="Aptos"/>
              </a:defRPr>
            </a:pPr>
            <a:r>
              <a:t>StayNext is built as a practical MERN-based Airbnb clone for booking stays and managing platform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Technology Stack And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B1F33"/>
                </a:solidFill>
                <a:latin typeface="Aptos"/>
              </a:defRPr>
            </a:pPr>
            <a:r>
              <a:t>How The System Is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874519"/>
            <a:ext cx="2560320" cy="21488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91440" cy="214884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75104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59152"/>
            <a:ext cx="2240279" cy="15544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React 19 + Vite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React Router protected pages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Axios API services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Responsive CSS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874519"/>
            <a:ext cx="2560320" cy="21488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82880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828800"/>
            <a:ext cx="91440" cy="214884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975104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359152"/>
            <a:ext cx="2240279" cy="15544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Node.js + Express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REST API routes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Controllers and middleware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Background reminder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74519"/>
            <a:ext cx="2560320" cy="21488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82880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828800"/>
            <a:ext cx="91440" cy="214884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975104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359152"/>
            <a:ext cx="2240279" cy="15544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MongoDB + Mongoose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Users, properties, bookings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Payments, tickets, reviews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Wishlist and notifications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874519"/>
            <a:ext cx="2560320" cy="21488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0" y="1828800"/>
            <a:ext cx="2560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828800"/>
            <a:ext cx="91440" cy="2148840"/>
          </a:xfrm>
          <a:prstGeom prst="rect">
            <a:avLst/>
          </a:prstGeom>
          <a:solidFill>
            <a:srgbClr val="4C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1975104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359152"/>
            <a:ext cx="2240279" cy="15544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JWT authentication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Role-based authorization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Security headers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Rate limiting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14400" y="4709160"/>
            <a:ext cx="2011680" cy="502920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46120" y="4709160"/>
            <a:ext cx="2011680" cy="502920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Axios REST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577840" y="4709160"/>
            <a:ext cx="2011680" cy="502920"/>
          </a:xfrm>
          <a:prstGeom prst="rightArrow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Express API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909560" y="4709160"/>
            <a:ext cx="2011680" cy="502920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F33"/>
                </a:solidFill>
                <a:latin typeface="Aptos"/>
              </a:defRPr>
            </a:pPr>
            <a:r>
              <a:t>Frontend calls backend APIs, backend validates business rules, and MongoDB stores all platform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User / Guest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USER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B1F33"/>
                </a:solidFill>
                <a:latin typeface="Aptos"/>
              </a:defRPr>
            </a:pPr>
            <a:r>
              <a:t>What A Guest Can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874519"/>
            <a:ext cx="3246120" cy="141732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91440" cy="141732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7510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59152"/>
            <a:ext cx="2926079" cy="82296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Browse popular stays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Filter by location, max price, and guests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874519"/>
            <a:ext cx="3246120" cy="141732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91440" cy="141732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97510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59152"/>
            <a:ext cx="2926079" cy="82296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View property details and amenities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Choose dates and guest count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Backend validates overlap and price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874519"/>
            <a:ext cx="3246120" cy="141732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80" y="18288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828800"/>
            <a:ext cx="91440" cy="141732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97510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Pay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359152"/>
            <a:ext cx="2926079" cy="82296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Demo checkout supports card, UPI, net banking, wallet, and cash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Success confirms booking; failure cancels booking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" y="3749039"/>
            <a:ext cx="3246120" cy="141732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3703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703320"/>
            <a:ext cx="91440" cy="141732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84962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Stay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233672"/>
            <a:ext cx="2926079" cy="82296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See My Bookings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Punch in on check-in day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Punch out on checkout 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3749039"/>
            <a:ext cx="3246120" cy="141732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3703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703320"/>
            <a:ext cx="91440" cy="141732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84962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Engage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233672"/>
            <a:ext cx="2926079" cy="82296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Wishlist favorite properties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Write reviews for confirmed bookings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0456" y="3749039"/>
            <a:ext cx="3246120" cy="141732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83880" y="3703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703320"/>
            <a:ext cx="91440" cy="141732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384962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233672"/>
            <a:ext cx="2926079" cy="82296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Raise booking tickets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Receive notifications and mark them 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Host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HOST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B1F33"/>
                </a:solidFill>
                <a:latin typeface="Aptos"/>
              </a:defRPr>
            </a:pPr>
            <a:r>
              <a:t>What A Host Can Do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920240"/>
            <a:ext cx="1920240" cy="566928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Register As Host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1920240"/>
            <a:ext cx="2011680" cy="566928"/>
          </a:xfrm>
          <a:prstGeom prst="rightArrow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Wait For Admin Approval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12080" y="1920240"/>
            <a:ext cx="1920240" cy="566928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Add Property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06640" y="1920240"/>
            <a:ext cx="1920240" cy="566928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Manage Listing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1200" y="1920240"/>
            <a:ext cx="1828800" cy="566928"/>
          </a:xfrm>
          <a:prstGeom prst="rightArrow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Track Bookings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3291839"/>
            <a:ext cx="3246120" cy="19202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91440" cy="192024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9242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Property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2926079" cy="13258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Add title, description, location, price, images, amenities, max guests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Update and delete only own properties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7136" y="3291839"/>
            <a:ext cx="3246120" cy="19202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324612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46120"/>
            <a:ext cx="91440" cy="192024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339242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Booking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776472"/>
            <a:ext cx="2926079" cy="13258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View bookings for own properties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See guest details, stay dates, amount, booking status, payment status, and stay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5" y="3291839"/>
            <a:ext cx="3246120" cy="192024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324612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246120"/>
            <a:ext cx="91440" cy="192024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339242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Host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776472"/>
            <a:ext cx="2926079" cy="13258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New booking request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Payment success or failure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Guest punch-in and punch-out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F33"/>
                </a:solidFill>
                <a:latin typeface="Aptos"/>
              </a:defRPr>
            </a:pPr>
            <a:r>
              <a:t>Important: host property actions are blocked until admin approves the host account.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Admin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ADMIN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B1F33"/>
                </a:solidFill>
                <a:latin typeface="Aptos"/>
              </a:defRPr>
            </a:pPr>
            <a:r>
              <a:t>Back Office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74519"/>
            <a:ext cx="3246120" cy="160020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91440" cy="160020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2926079" cy="10058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Total bookings, paid/pending payments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Revenue and occupancy signal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Auto-refresh every 30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874519"/>
            <a:ext cx="3246120" cy="160020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91440" cy="160020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97510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59152"/>
            <a:ext cx="2926079" cy="10058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Search users and filter host status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Approve or reject host accounts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Notify host after decision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5" y="1874519"/>
            <a:ext cx="3246120" cy="160020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59" y="18288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1828800"/>
            <a:ext cx="91440" cy="160020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197510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Bookings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359152"/>
            <a:ext cx="2926079" cy="10058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View all platform bookings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Guest/host/property details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Booking, payment, and stay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3931920"/>
            <a:ext cx="3246120" cy="160020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886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886200"/>
            <a:ext cx="91440" cy="1600200"/>
          </a:xfrm>
          <a:prstGeom prst="rect">
            <a:avLst/>
          </a:prstGeom>
          <a:solidFill>
            <a:srgbClr val="4C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03250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416552"/>
            <a:ext cx="2926079" cy="10058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All transactions and methods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Transaction ID, amount, status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Guest, host, and property links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3931920"/>
            <a:ext cx="3246120" cy="160020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3886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886200"/>
            <a:ext cx="91440" cy="160020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403250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Tickets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416552"/>
            <a:ext cx="2926079" cy="10058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View support tickets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Update status and admin reply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Notify user after ticket 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Main Business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B1F33"/>
                </a:solidFill>
                <a:latin typeface="Aptos"/>
              </a:defRPr>
            </a:pPr>
            <a:r>
              <a:t>Booking, Payment, Stay, Support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360" y="1874519"/>
            <a:ext cx="1508760" cy="566928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79" y="1874519"/>
            <a:ext cx="1508760" cy="566928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43400" y="1874519"/>
            <a:ext cx="1508760" cy="566928"/>
          </a:xfrm>
          <a:prstGeom prst="rightArrow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Create Booking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17920" y="1874519"/>
            <a:ext cx="1508760" cy="566928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Demo Payment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92440" y="1874519"/>
            <a:ext cx="1508760" cy="566928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Confirm/Cancel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966960" y="1874519"/>
            <a:ext cx="1508760" cy="566928"/>
          </a:xfrm>
          <a:prstGeom prst="rightArrow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Notify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3017520"/>
            <a:ext cx="3337560" cy="205740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3337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91440" cy="205740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18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Booking + 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02152"/>
            <a:ext cx="3017520" cy="14630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Booking starts as pending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Successful payment sets booking confirmed and payment paid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Failed payment sets booking cancelled and payment failed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Guest and host receive notifications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3017520"/>
            <a:ext cx="3337560" cy="205740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2971800"/>
            <a:ext cx="3337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2971800"/>
            <a:ext cx="91440" cy="205740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7" y="3118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Stay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3502152"/>
            <a:ext cx="3017520" cy="14630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Upcoming before check-in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Ready-for-check-in on start date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Checked-in after punch in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Ready-for-check-out on checkout date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Checked-out after punch 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3017520"/>
            <a:ext cx="3337560" cy="205740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2971800"/>
            <a:ext cx="3337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971800"/>
            <a:ext cx="91440" cy="205740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3118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Support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502152"/>
            <a:ext cx="3017520" cy="14630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Guest raises ticket for booking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Admin receives notification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Admin updates status/reply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Guest receives ticket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Security And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B1F33"/>
                </a:solidFill>
                <a:latin typeface="Aptos"/>
              </a:defRPr>
            </a:pPr>
            <a:r>
              <a:t>Security And Data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74519"/>
            <a:ext cx="3429000" cy="315468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290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91440" cy="315468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Security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3108960" cy="256032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bcrypt password hashing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JWT login token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Protected frontend routes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Admin-only and host-approved-only APIs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Security headers and API rate limiting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874519"/>
            <a:ext cx="3429000" cy="315468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91440" cy="315468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9751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Main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59152"/>
            <a:ext cx="3108960" cy="256032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User: role and approval status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Property: listing data and host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Booking: dates, price, statuses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Payment: transaction and method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Ticket/Review/Wishlist/Notification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874519"/>
            <a:ext cx="3429000" cy="315468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4290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28800"/>
            <a:ext cx="91440" cy="315468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9751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Validation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359152"/>
            <a:ext cx="3108960" cy="256032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No past check-in date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Checkout must be after check-in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Guests cannot exceed maxGuests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Confirmed overlap is blocked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Only owner can edit own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Development Pipeline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82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27C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B1F33"/>
                </a:solidFill>
                <a:latin typeface="Aptos"/>
              </a:defRPr>
            </a:pPr>
            <a:r>
              <a:t>How The Project Runs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02920" y="1874519"/>
            <a:ext cx="1298448" cy="530352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30552" y="1874519"/>
            <a:ext cx="1298448" cy="530352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Install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58184" y="1874519"/>
            <a:ext cx="1298448" cy="530352"/>
          </a:xfrm>
          <a:prstGeom prst="rightArrow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85816" y="1874519"/>
            <a:ext cx="1298448" cy="530352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Seed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13448" y="1874519"/>
            <a:ext cx="1298448" cy="530352"/>
          </a:xfrm>
          <a:prstGeom prst="rightArrow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41080" y="1874519"/>
            <a:ext cx="1298448" cy="530352"/>
          </a:xfrm>
          <a:prstGeom prst="rightArrow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268712" y="1874519"/>
            <a:ext cx="1298448" cy="530352"/>
          </a:xfrm>
          <a:prstGeom prst="rightArrow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3108960"/>
            <a:ext cx="3383280" cy="196596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063240"/>
            <a:ext cx="91440" cy="196596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20954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Backend 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593592"/>
            <a:ext cx="3063240" cy="137160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npm run dev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npm start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npm test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npm run seed:admin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npm run seed:demo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71416" y="3108960"/>
            <a:ext cx="3383280" cy="196596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30632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063240"/>
            <a:ext cx="91440" cy="196596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320954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Frontend Scripts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3593592"/>
            <a:ext cx="3063240" cy="137160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npm run dev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npm run build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npm run lint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npm run preview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5" y="3108960"/>
            <a:ext cx="3383280" cy="196596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3879" y="30632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063240"/>
            <a:ext cx="91440" cy="196596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320954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Current Pipeline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3593592"/>
            <a:ext cx="3063240" cy="137160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Local workflow is ready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Backend tests cover models and stay status service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No project-level CI/CD file found yet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CI/CD is planned as future enhancement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F33"/>
                </a:solidFill>
                <a:latin typeface="Aptos"/>
              </a:defRPr>
            </a:pPr>
            <a:r>
              <a:t>Recommended deployment pipeline: GitHub Actions -&gt; lint/test/build -&gt; deploy frontend and backend to 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640080"/>
            <a:ext cx="2286000" cy="2286000"/>
          </a:xfrm>
          <a:prstGeom prst="ellipse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5120640"/>
            <a:ext cx="2286000" cy="2286000"/>
          </a:xfrm>
          <a:prstGeom prst="ellipse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594360"/>
            <a:ext cx="1188720" cy="1188720"/>
          </a:xfrm>
          <a:prstGeom prst="ellipse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737360"/>
            <a:ext cx="3291840" cy="155448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91440" cy="155448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3794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Payments +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971800" cy="960119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Razorpay/Stripe integration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Webhook verification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Refund and cancellation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37360"/>
            <a:ext cx="3291840" cy="155448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91640"/>
            <a:ext cx="91440" cy="155448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83794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Search +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221992"/>
            <a:ext cx="2971800" cy="960119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Map-based search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Availability calendar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Advanced amenity filters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737360"/>
            <a:ext cx="3291840" cy="155448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69164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91640"/>
            <a:ext cx="91440" cy="155448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83794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221992"/>
            <a:ext cx="2971800" cy="960119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GitHub Actions CI/CD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Automated lint/test/build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Cloud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" y="3703320"/>
            <a:ext cx="3291840" cy="155448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91440" cy="1554480"/>
          </a:xfrm>
          <a:prstGeom prst="rect">
            <a:avLst/>
          </a:prstGeom>
          <a:solidFill>
            <a:srgbClr val="F1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80390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187952"/>
            <a:ext cx="2971800" cy="960119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Email/SMS alerts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Guest-host chat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Admin broadcast messages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71416" y="3703320"/>
            <a:ext cx="3291840" cy="155448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365760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3657600"/>
            <a:ext cx="91440" cy="1554480"/>
          </a:xfrm>
          <a:prstGeom prst="rect">
            <a:avLst/>
          </a:prstGeom>
          <a:solidFill>
            <a:srgbClr val="009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7" y="380390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Trust +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4187952"/>
            <a:ext cx="2971800" cy="960119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Host KYC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Image moderation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Better security monitoring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3703320"/>
            <a:ext cx="3291840" cy="1554480"/>
          </a:xfrm>
          <a:prstGeom prst="roundRect">
            <a:avLst/>
          </a:prstGeom>
          <a:solidFill>
            <a:srgbClr val="D5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3657600"/>
            <a:ext cx="3291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657600"/>
            <a:ext cx="91440" cy="1554480"/>
          </a:xfrm>
          <a:prstGeom prst="rect">
            <a:avLst/>
          </a:prstGeom>
          <a:solidFill>
            <a:srgbClr val="EC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380390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3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4187952"/>
            <a:ext cx="2971800" cy="960119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Revenue charts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Occupancy trends</a:t>
            </a:r>
          </a:p>
          <a:p>
            <a:pPr>
              <a:spcAft>
                <a:spcPts val="500"/>
              </a:spcAft>
              <a:defRPr sz="1220">
                <a:solidFill>
                  <a:srgbClr val="4C5B6B"/>
                </a:solidFill>
                <a:latin typeface="Aptos"/>
              </a:defRPr>
            </a:pPr>
            <a:r>
              <a:t>Host performance 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9893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Conclusion: StayNext demonstrates a complete rental marketplace with role-based workflows, booking/payment processing, notifications, support, and admin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